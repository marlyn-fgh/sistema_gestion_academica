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3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9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9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1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4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7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4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3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7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1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8814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67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6224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4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75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2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C9571-A8F0-48F8-9BF2-E4AA6DD8CEA5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1F50E65-6593-4D71-8B60-FC18056589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api.cl/portal/institucional/600/w3-article-839.htm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PORQU%20ES%20IMPORTANTE%20PARA%20DESARROLLO%20DE%20SOFTWARE%20ENLACE: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vascusi.com/patente-vs-copyright-vs-licencia-software-explotacion-contractual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lfisco.com/articulos/el-programa-informatico-el-derecho-de-autor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onsip.com/ip-news/patentes/que-requisitos-debe-cumplir-una-patente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rademarks.usc.edu/trademark-fundamentals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t/trade-secret.asp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plegal.com/content/what-are-trade-secrets-and-how-can-business-protect-them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ortedelcauca.univalle.edu.co/noticias/item/599-ilega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dr.com.co/respetar-propiedad-intelectual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 Propiedades Intelectuales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7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54000" y="558800"/>
            <a:ext cx="698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¿Qué ES UNA PROPIEDAD INTELECTUAL? </a:t>
            </a:r>
            <a:r>
              <a:rPr lang="es-ES" dirty="0" smtClean="0">
                <a:hlinkClick r:id="rId2"/>
              </a:rPr>
              <a:t>ENLACE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54000" y="1293336"/>
            <a:ext cx="9601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0" dirty="0" smtClean="0">
                <a:effectLst/>
                <a:latin typeface="Google Sans"/>
              </a:rPr>
              <a:t>La propiedad intelectual es el </a:t>
            </a:r>
            <a:r>
              <a:rPr lang="es-ES" dirty="0" smtClean="0"/>
              <a:t>conjunto de derechos que protegen las creaciones de la mente humana (obras artísticas, científicas, invenciones y marcas). Otorga a los creadores derechos exclusivos sobre el uso, distribución o explotación comercial de sus ideas por un tiempo determinado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3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00200" y="749300"/>
            <a:ext cx="877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PORQU ES IMPORTANTE PARA DESARROLLO DE SOFTWARE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: 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2139950" y="2275364"/>
            <a:ext cx="7912100" cy="261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2368550" y="2616200"/>
            <a:ext cx="7454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0" dirty="0" smtClean="0">
                <a:effectLst/>
                <a:latin typeface="Google Sans"/>
              </a:rPr>
              <a:t>La </a:t>
            </a:r>
            <a:r>
              <a:rPr lang="es-ES" b="1" dirty="0" smtClean="0">
                <a:effectLst/>
                <a:latin typeface="Google Sans"/>
              </a:rPr>
              <a:t>propiedad intelectual (PI)</a:t>
            </a:r>
            <a:r>
              <a:rPr lang="es-ES" dirty="0" smtClean="0"/>
              <a:t> en el desarrollo de software es crucial porque protege el código, la arquitectura y los algoritmos contra copias no autorizadas y el robo de propiedad. Además, garantiza la titularidad de tus activos digitales, protege tus inversiones financieras y de tiempo, y evita que terceros se aprovechen de tu trabajo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1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51000" y="749300"/>
            <a:ext cx="707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DIFERENCIA HAY ENTRE EL COPYRIGHT Y LA PATENTE </a:t>
            </a:r>
            <a:r>
              <a:rPr lang="es-ES" dirty="0" smtClean="0">
                <a:hlinkClick r:id="rId2"/>
              </a:rPr>
              <a:t>ENLACE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3105150" y="2343150"/>
            <a:ext cx="6540500" cy="207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3327400" y="26395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0" dirty="0" smtClean="0">
                <a:effectLst/>
                <a:latin typeface="Google Sans"/>
              </a:rPr>
              <a:t>La diferencia principal radica en qué protegen: </a:t>
            </a:r>
            <a:r>
              <a:rPr lang="es-ES" dirty="0" smtClean="0"/>
              <a:t>la </a:t>
            </a:r>
            <a:r>
              <a:rPr lang="es-ES" b="1" dirty="0" smtClean="0">
                <a:effectLst/>
                <a:latin typeface="Google Sans"/>
              </a:rPr>
              <a:t>patente</a:t>
            </a:r>
            <a:r>
              <a:rPr lang="es-ES" dirty="0" smtClean="0"/>
              <a:t> protege </a:t>
            </a:r>
            <a:r>
              <a:rPr lang="es-ES" b="1" dirty="0" smtClean="0">
                <a:effectLst/>
                <a:latin typeface="Google Sans"/>
              </a:rPr>
              <a:t>invenciones técnicas</a:t>
            </a:r>
            <a:r>
              <a:rPr lang="es-ES" dirty="0" smtClean="0"/>
              <a:t> (máquinas, procesos o fórmulas), mientras que el </a:t>
            </a:r>
            <a:r>
              <a:rPr lang="es-ES" b="1" dirty="0" smtClean="0">
                <a:effectLst/>
                <a:latin typeface="Google Sans"/>
              </a:rPr>
              <a:t>copyright</a:t>
            </a:r>
            <a:r>
              <a:rPr lang="es-ES" dirty="0" smtClean="0"/>
              <a:t> (derecho de autor) protege </a:t>
            </a:r>
            <a:r>
              <a:rPr lang="es-ES" b="1" dirty="0" smtClean="0">
                <a:effectLst/>
                <a:latin typeface="Google Sans"/>
              </a:rPr>
              <a:t>obras creativas y de expresión</a:t>
            </a:r>
            <a:r>
              <a:rPr lang="es-ES" dirty="0" smtClean="0"/>
              <a:t> (libros, música, software o arte).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9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51000" y="660400"/>
            <a:ext cx="1109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ELEMNTOS DE UN PROGRAMA INFORMATIVO PUEDEN ESTAR PROTEGIDOS POR EL DERECHO DE AUTOR 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2825750" y="2508250"/>
            <a:ext cx="6540500" cy="207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0" dirty="0" smtClean="0">
                <a:effectLst/>
                <a:latin typeface="Google Sans"/>
              </a:rPr>
              <a:t>El </a:t>
            </a:r>
            <a:r>
              <a:rPr lang="es-ES" b="1" dirty="0" smtClean="0">
                <a:effectLst/>
                <a:latin typeface="Google Sans"/>
              </a:rPr>
              <a:t>derecho de autor</a:t>
            </a:r>
            <a:r>
              <a:rPr lang="es-ES" dirty="0" smtClean="0"/>
              <a:t> protege la forma exacta en la que se expresa un programa de computador, equiparándolo legalmente a una obra literaria. Protege el trabajo creativo e intelectual, pero </a:t>
            </a:r>
            <a:r>
              <a:rPr lang="es-ES" b="1" dirty="0" smtClean="0">
                <a:effectLst/>
                <a:latin typeface="Google Sans"/>
              </a:rPr>
              <a:t>no las ideas, conceptos o funciones subyacentes</a:t>
            </a:r>
            <a:r>
              <a:rPr lang="es-E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99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43074" y="604639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CONDICIONES DEBE CUMPLIR LA INVENCION PARA SER PATENTADA </a:t>
            </a:r>
            <a:r>
              <a:rPr lang="es-ES" dirty="0" smtClean="0">
                <a:hlinkClick r:id="rId2"/>
              </a:rPr>
              <a:t>ENLACE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1743074" y="1574800"/>
            <a:ext cx="9534525" cy="4324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44674" y="2159000"/>
            <a:ext cx="9432925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Novedad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invento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debe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existir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previamente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llamado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estado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técnica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"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ninguna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parte del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mundo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debe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haber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sido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divulgado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público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antes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presentar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solicitud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endParaRPr lang="en-US" altLang="en-US" sz="20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Nivel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inventivo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(o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actividad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inventiva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invento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debe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obvio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resultar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manera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evidente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para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persona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experta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esa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área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técnica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endParaRPr lang="en-US" altLang="en-US" sz="2000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Aplicación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industrial: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invento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debe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útil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tener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capacidad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fabricado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utilizado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cualquier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tipo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industria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 sector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productivo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8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71500" y="698500"/>
            <a:ext cx="942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FUNCION CUMPLEN LAS MARCAS REGISTRADAS </a:t>
            </a:r>
            <a:r>
              <a:rPr lang="es-ES" dirty="0" smtClean="0">
                <a:hlinkClick r:id="rId2"/>
              </a:rPr>
              <a:t>ENLACE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s-ES" b="0" i="0" dirty="0" smtClean="0">
                <a:solidFill>
                  <a:srgbClr val="000000"/>
                </a:solidFill>
                <a:effectLst/>
                <a:latin typeface="Source Sans Pro"/>
              </a:rPr>
              <a:t>El propósito principal de una marca registrada es identificar el origen de un producto y distinguirlo de productos que provienen de otras fuentes. Por ejemplo, una marca registrada le ayudará a elegir entre una COKE® y una PEPSI®.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93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38300" y="762000"/>
            <a:ext cx="673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ES UN SECRETO COMERCIAL 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3098800" y="2298700"/>
            <a:ext cx="66294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b="0" i="0" dirty="0" smtClean="0">
                <a:effectLst/>
                <a:latin typeface="SourceSansPro"/>
              </a:rPr>
              <a:t>Un secreto comercial es cualquier información de la empresa, como una práctica, un proceso, una fórmula, una técnica o un dispositivo, que se mantiene confidencial para todos excepto para aquellos que necesitan saberla.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92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62100" y="711200"/>
            <a:ext cx="828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COMO PUEDE UNA EMPRESA PROTEGER SUS SECRETOS COMERCIALES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1562100" y="1880950"/>
            <a:ext cx="10477500" cy="4770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212529"/>
                </a:solidFill>
                <a:latin typeface="Suisse Intl"/>
              </a:rPr>
              <a:t>L</a:t>
            </a: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os secretos comerciales no se registran ni se pueden registrar. La clave está en mantener la confidencialidad. Se pueden utilizar diversas herramientas para ayudar a mantener la confidencialidad, tales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Proporcionar una notificación oral o escrita de que la información es confidencial.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Firma de acuerdos de confidencialidad/no divulgación.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Elaborar y seguir políticas y procedimientos de supervisión, como los procedimientos de almacenamiento y eliminación de información/documentos (por ejemplo, trituración) y los procedimientos de transmisión de información.</a:t>
            </a:r>
          </a:p>
          <a:p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Utilizar medidas de seguridad en las instalaciones, como vallas, zonas cerradas con llave, alarmas, personal de seguridad y tarjetas de identificación.</a:t>
            </a:r>
          </a:p>
          <a:p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Limitar el acceso a la información únicamente a quienes la necesiten para el desempeño de sus funciones.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Utilizando registros de acceso.</a:t>
            </a:r>
          </a:p>
          <a:p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Incorporar sellos/etiquetas de leyenda confidenciales o de propiedad exclusiva en materiales protegidos.</a:t>
            </a:r>
          </a:p>
          <a:p>
            <a:endParaRPr lang="es-ES" sz="1600" b="0" i="0" dirty="0" smtClean="0">
              <a:solidFill>
                <a:srgbClr val="212529"/>
              </a:solidFill>
              <a:effectLst/>
              <a:latin typeface="Suisse Int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0" i="0" dirty="0" smtClean="0">
                <a:solidFill>
                  <a:srgbClr val="212529"/>
                </a:solidFill>
                <a:effectLst/>
                <a:latin typeface="Suisse Intl"/>
              </a:rPr>
              <a:t>Exigir la devolución de los documentos marcados como confidenciales o de propiedad exclusiva.</a:t>
            </a:r>
          </a:p>
        </p:txBody>
      </p:sp>
    </p:spTree>
    <p:extLst>
      <p:ext uri="{BB962C8B-B14F-4D97-AF65-F5344CB8AC3E}">
        <p14:creationId xmlns:p14="http://schemas.microsoft.com/office/powerpoint/2010/main" val="250044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00200" y="685800"/>
            <a:ext cx="1040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QUE CONSECUENCIAS LEGALES PUEDE ENFRENTAR UNA PERSONA QUE COPIE EL SOFTWARE SIN AUTORIZACION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2997200" y="2030443"/>
            <a:ext cx="60960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Multa:</a:t>
            </a:r>
            <a:r>
              <a:rPr lang="es-ES" b="0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Sanciones administrativas hasta de 200 (SMLV) para todos los administradores de la empresa.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Cárcel:</a:t>
            </a:r>
            <a:r>
              <a:rPr lang="es-ES" b="0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El delito de defraudación por derechos patrimoniales de autor que contempla penas de prisión de 2 a 5 años.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Perdida de certificación de calidad </a:t>
            </a:r>
            <a:r>
              <a:rPr lang="es-ES" b="1" i="0" dirty="0" err="1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r>
              <a:rPr lang="es-ES" b="1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s-ES" b="0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certificación ISO puede ser suspendida o retirada por varias razones, incumplimiento persistente de los requisitos de la norma, uso indebido de la certificación en publicidad engañosa, y cambios significativos en la estructura o procesos de la empresa que no se reportan y afectan el sistema de gestión.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Credibilidad para los clientes y proveedores:</a:t>
            </a:r>
            <a:r>
              <a:rPr lang="es-ES" b="0" i="0" dirty="0" smtClean="0">
                <a:solidFill>
                  <a:srgbClr val="6D6E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para reparar el daño de la credibilidad y reputación puede requerir inversión en marketing, la empresa puede ser menos competitiva en el mercado.</a:t>
            </a:r>
            <a:endParaRPr lang="es-ES" b="0" i="0" dirty="0">
              <a:solidFill>
                <a:srgbClr val="6D6E7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32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87500" y="622300"/>
            <a:ext cx="720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PORQUE EL RESPETO A LA PROPIEDAD INTELECTUAL ES UN ASUNTO ETICO ADEMAS DE LEGAL </a:t>
            </a:r>
            <a:r>
              <a:rPr lang="es-ES" dirty="0" smtClean="0">
                <a:hlinkClick r:id="rId2"/>
              </a:rPr>
              <a:t>ENLACE</a:t>
            </a:r>
            <a:r>
              <a:rPr lang="es-ES" dirty="0" smtClean="0"/>
              <a:t> 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spAutoFit/>
          </a:bodyPr>
          <a:lstStyle/>
          <a:p>
            <a:r>
              <a:rPr lang="es-ES" b="0" i="0" dirty="0" smtClean="0">
                <a:solidFill>
                  <a:srgbClr val="797A7F"/>
                </a:solidFill>
                <a:effectLst/>
                <a:latin typeface="Roboto"/>
              </a:rPr>
              <a:t>Respetar la propiedad intelectual no es solo una cuestión legal: es un acto de responsabilidad y compromiso con quienes dedican su vida a crear, editar y compartir conocimiento, historias y saberes. Cada vez que accedemos de forma ética a un libro, una revista, un artículo o una partitura, estamos aportando a la sostenibilidad de la cultura escrita y a la protección del patrimonio intelectual colombiano.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22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66699" y="252128"/>
            <a:ext cx="5562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ACTIVIDAD 2 CASOS </a:t>
            </a:r>
          </a:p>
          <a:p>
            <a:endParaRPr lang="es-ES" dirty="0" smtClean="0"/>
          </a:p>
          <a:p>
            <a:r>
              <a:rPr lang="es-ES" dirty="0" smtClean="0">
                <a:solidFill>
                  <a:schemeClr val="bg1"/>
                </a:solidFill>
              </a:rPr>
              <a:t>CASO 1 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pPr marL="342900" indent="-342900">
              <a:buAutoNum type="alphaLcPeriod"/>
            </a:pPr>
            <a:r>
              <a:rPr lang="es-ES" dirty="0" smtClean="0"/>
              <a:t>La patente del derecho del autor.</a:t>
            </a:r>
          </a:p>
          <a:p>
            <a:pPr marL="342900" indent="-342900">
              <a:buAutoNum type="alphaLcPeriod"/>
            </a:pPr>
            <a:r>
              <a:rPr lang="es-ES" dirty="0" smtClean="0"/>
              <a:t>Si existe, </a:t>
            </a:r>
            <a:r>
              <a:rPr lang="es-ES" dirty="0" err="1" smtClean="0"/>
              <a:t>porquese</a:t>
            </a:r>
            <a:r>
              <a:rPr lang="es-ES" dirty="0" smtClean="0"/>
              <a:t> apropio del código, diciendo que era de el, violando el derechos  de autor.</a:t>
            </a:r>
          </a:p>
          <a:p>
            <a:pPr marL="342900" indent="-342900">
              <a:buAutoNum type="alphaLcPeriod"/>
            </a:pPr>
            <a:r>
              <a:rPr lang="es-ES" dirty="0"/>
              <a:t> </a:t>
            </a:r>
            <a:r>
              <a:rPr lang="es-ES" dirty="0" smtClean="0"/>
              <a:t>Decir la verdad al docente </a:t>
            </a:r>
          </a:p>
          <a:p>
            <a:pPr marL="342900" indent="-342900">
              <a:buAutoNum type="alphaLcPeriod"/>
            </a:pPr>
            <a:endParaRPr lang="es-ES" dirty="0"/>
          </a:p>
          <a:p>
            <a:pPr marL="342900" indent="-342900">
              <a:buAutoNum type="alphaLcPeriod"/>
            </a:pPr>
            <a:endParaRPr lang="es-ES" dirty="0" smtClean="0"/>
          </a:p>
          <a:p>
            <a:r>
              <a:rPr lang="es-ES" dirty="0" smtClean="0"/>
              <a:t>CASO 2 </a:t>
            </a:r>
          </a:p>
          <a:p>
            <a:endParaRPr lang="es-ES" dirty="0" smtClean="0"/>
          </a:p>
          <a:p>
            <a:r>
              <a:rPr lang="es-ES" dirty="0" smtClean="0"/>
              <a:t>                                                                                </a:t>
            </a:r>
          </a:p>
          <a:p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1220715"/>
            <a:ext cx="5649113" cy="103837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1" y="4898151"/>
            <a:ext cx="4305300" cy="100012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864100" y="4766571"/>
            <a:ext cx="712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s-ES" dirty="0" smtClean="0"/>
              <a:t>La empresa puede utilizar un secreto comercial industrial legal</a:t>
            </a:r>
          </a:p>
          <a:p>
            <a:pPr marL="342900" indent="-342900">
              <a:buFont typeface="+mj-lt"/>
              <a:buAutoNum type="alphaLcPeriod"/>
            </a:pPr>
            <a:r>
              <a:rPr lang="es-ES" dirty="0" smtClean="0"/>
              <a:t>Obtiene mas privacidad hacia el publico comercial, compartiendo la información solo con personal autorizado. </a:t>
            </a:r>
          </a:p>
          <a:p>
            <a:pPr marL="342900" indent="-342900">
              <a:buFont typeface="+mj-lt"/>
              <a:buAutoNum type="alphaLcPeriod"/>
            </a:pPr>
            <a:r>
              <a:rPr lang="es-ES" dirty="0" smtClean="0"/>
              <a:t>si se hace publico plagio y mal uso de la información.</a:t>
            </a:r>
          </a:p>
          <a:p>
            <a:endParaRPr lang="es-ES" dirty="0" smtClean="0"/>
          </a:p>
          <a:p>
            <a:pPr marL="342900" indent="-342900">
              <a:buFont typeface="+mj-lt"/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90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0500" y="685800"/>
            <a:ext cx="4673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</a:rPr>
              <a:t>CASO 3 </a:t>
            </a:r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pPr marL="342900" indent="-342900">
              <a:buFont typeface="+mj-lt"/>
              <a:buAutoNum type="alphaLcPeriod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La propiedad intelectual que se ve afectada es la marca registrada.</a:t>
            </a:r>
          </a:p>
          <a:p>
            <a:pPr marL="342900" indent="-342900">
              <a:buFont typeface="+mj-lt"/>
              <a:buAutoNum type="alphaLcPeriod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Que la empresa tome cargos legales como multa y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i="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redibilidad para los clientes y proveedores</a:t>
            </a:r>
          </a:p>
          <a:p>
            <a:pPr marL="342900" indent="-342900">
              <a:buFont typeface="+mj-lt"/>
              <a:buAutoNum type="alphaLcPeriod"/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Pagando los cargos legales e inventando todo diferente.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065431"/>
            <a:ext cx="8410575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86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63775"/>
              </p:ext>
            </p:extLst>
          </p:nvPr>
        </p:nvGraphicFramePr>
        <p:xfrm>
          <a:off x="863600" y="427566"/>
          <a:ext cx="10363200" cy="649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2607236776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07393055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897329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TIPO</a:t>
                      </a:r>
                      <a:r>
                        <a:rPr lang="es-ES" baseline="0" dirty="0" smtClean="0"/>
                        <a:t> DE PROTECCION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QUE</a:t>
                      </a:r>
                      <a:r>
                        <a:rPr lang="es-ES" baseline="0" dirty="0" smtClean="0"/>
                        <a:t> PROTEGE 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 EN SOFTWARE</a:t>
                      </a:r>
                      <a:r>
                        <a:rPr lang="es-E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9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COPYRIGHT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protege </a:t>
                      </a:r>
                      <a:r>
                        <a:rPr lang="es-ES" b="1" dirty="0" smtClean="0">
                          <a:effectLst/>
                          <a:latin typeface="Google Sans"/>
                        </a:rPr>
                        <a:t>obras creativas y de expresión</a:t>
                      </a:r>
                      <a:r>
                        <a:rPr lang="es-ES" dirty="0" smtClean="0"/>
                        <a:t> (libros, música, software o arte).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Código</a:t>
                      </a:r>
                      <a:r>
                        <a:rPr lang="en-US" dirty="0" smtClean="0"/>
                        <a:t> Fuente y </a:t>
                      </a:r>
                      <a:r>
                        <a:rPr lang="en-US" dirty="0" err="1" smtClean="0"/>
                        <a:t>Objeto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Estructura</a:t>
                      </a:r>
                      <a:r>
                        <a:rPr lang="en-US" dirty="0" smtClean="0"/>
                        <a:t> y </a:t>
                      </a:r>
                      <a:r>
                        <a:rPr lang="en-US" dirty="0" err="1" smtClean="0"/>
                        <a:t>Secuencia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Manuales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usuario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Interfaces </a:t>
                      </a:r>
                      <a:r>
                        <a:rPr lang="en-US" dirty="0" err="1" smtClean="0"/>
                        <a:t>audiovisuales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4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PATENTE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protege </a:t>
                      </a:r>
                      <a:r>
                        <a:rPr lang="es-ES" b="1" dirty="0" smtClean="0">
                          <a:effectLst/>
                          <a:latin typeface="Google Sans"/>
                        </a:rPr>
                        <a:t>invenciones técnicas</a:t>
                      </a:r>
                      <a:r>
                        <a:rPr lang="es-ES" dirty="0" smtClean="0"/>
                        <a:t> (máquinas, procesos o fórmulas)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Un algoritmo de inteligencia artificial integrado en un marcapasos que ajusta el ritmo cardíaco de forma exclusiva detectando anomalías específicas.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23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MARCA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Protege</a:t>
                      </a:r>
                      <a:r>
                        <a:rPr lang="es-ES" baseline="0" dirty="0" smtClean="0"/>
                        <a:t> </a:t>
                      </a:r>
                      <a:r>
                        <a:rPr lang="es-ES" dirty="0" smtClean="0"/>
                        <a:t>cualquier signo distintivo (palabras, logotipos, eslóganes o sonidos) usado para identificar y diferenciar productos o servicios en el mercado.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El nombre de tu software, tu logotipo, y la imagen corporativa en el mercado.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4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SECRETO COMERCIAL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 smtClean="0">
                          <a:effectLst/>
                          <a:latin typeface="SourceSansPro"/>
                        </a:rPr>
                        <a:t>Protege una práctica, un proceso, una fórmula, una técnica o un dispositivo, que se mantiene confidencial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Proteger</a:t>
                      </a:r>
                      <a:r>
                        <a:rPr lang="en-US" dirty="0" smtClean="0"/>
                        <a:t> el </a:t>
                      </a:r>
                      <a:r>
                        <a:rPr lang="en-US" dirty="0" err="1" smtClean="0"/>
                        <a:t>código</a:t>
                      </a:r>
                      <a:r>
                        <a:rPr lang="en-US" dirty="0" smtClean="0"/>
                        <a:t> Fuente</a:t>
                      </a:r>
                    </a:p>
                    <a:p>
                      <a:r>
                        <a:rPr lang="en-US" dirty="0" err="1" smtClean="0"/>
                        <a:t>Aplicar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acuerdos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confidencialidad</a:t>
                      </a:r>
                      <a:endParaRPr lang="en-US" dirty="0" smtClean="0"/>
                    </a:p>
                    <a:p>
                      <a:r>
                        <a:rPr lang="en-US" dirty="0" err="1" smtClean="0"/>
                        <a:t>Evitar</a:t>
                      </a:r>
                      <a:r>
                        <a:rPr lang="en-US" dirty="0" smtClean="0"/>
                        <a:t> la </a:t>
                      </a:r>
                      <a:r>
                        <a:rPr lang="en-US" dirty="0" err="1" smtClean="0"/>
                        <a:t>ingeniería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inversa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824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52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968</Words>
  <Application>Microsoft Office PowerPoint</Application>
  <PresentationFormat>Panorámica</PresentationFormat>
  <Paragraphs>91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Arial</vt:lpstr>
      <vt:lpstr>Century Gothic</vt:lpstr>
      <vt:lpstr>Google Sans</vt:lpstr>
      <vt:lpstr>Roboto</vt:lpstr>
      <vt:lpstr>Source Sans Pro</vt:lpstr>
      <vt:lpstr>SourceSansPro</vt:lpstr>
      <vt:lpstr>Suisse Intl</vt:lpstr>
      <vt:lpstr>Wingdings 3</vt:lpstr>
      <vt:lpstr>Espiral</vt:lpstr>
      <vt:lpstr> Propiedades Intelectuales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Propiedades Intelectuales</dc:title>
  <dc:creator>PC01</dc:creator>
  <cp:lastModifiedBy>PC01</cp:lastModifiedBy>
  <cp:revision>11</cp:revision>
  <dcterms:created xsi:type="dcterms:W3CDTF">2026-06-03T18:33:16Z</dcterms:created>
  <dcterms:modified xsi:type="dcterms:W3CDTF">2026-06-03T19:59:18Z</dcterms:modified>
</cp:coreProperties>
</file>